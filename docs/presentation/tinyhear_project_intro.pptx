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55080"/>
            <a:ext cx="12191695" cy="201168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777240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4200" b="1">
                <a:solidFill>
                  <a:srgbClr val="0F172A"/>
                </a:solidFill>
                <a:latin typeface="Microsoft YaHei"/>
              </a:rPr>
              <a:t>微听双麦降噪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1444752"/>
            <a:ext cx="96926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>
                <a:solidFill>
                  <a:srgbClr val="2563EB"/>
                </a:solidFill>
                <a:latin typeface="Microsoft YaHei"/>
              </a:rPr>
              <a:t>TinyHear Dual-Mic Denoising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121408"/>
            <a:ext cx="102412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1">
                <a:solidFill>
                  <a:srgbClr val="334155"/>
                </a:solidFill>
                <a:latin typeface="Microsoft YaHei"/>
              </a:rPr>
              <a:t>面向助听器 / 耳戴设备上行链路的端侧 AI 降噪原型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63240"/>
            <a:ext cx="31546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3063240"/>
            <a:ext cx="91440" cy="14173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3227832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>
                <a:solidFill>
                  <a:srgbClr val="0F172A"/>
                </a:solidFill>
                <a:latin typeface="Microsoft YaHei"/>
              </a:rPr>
              <a:t>输入输出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593592"/>
            <a:ext cx="274320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Microsoft YaHei"/>
              </a:defRPr>
            </a:pPr>
            <a:r>
              <a:t>双麦输入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Microsoft YaHei"/>
              </a:defRPr>
            </a:pPr>
            <a:r>
              <a:t>单通道增强语音输出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3063240"/>
            <a:ext cx="31546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3063240"/>
            <a:ext cx="91440" cy="1417320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45152" y="3227832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>
                <a:solidFill>
                  <a:srgbClr val="0F172A"/>
                </a:solidFill>
                <a:latin typeface="Microsoft YaHei"/>
              </a:rPr>
              <a:t>实时约束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593592"/>
            <a:ext cx="274320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Microsoft YaHei"/>
              </a:defRPr>
            </a:pPr>
            <a:r>
              <a:t>16 kHz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Microsoft YaHei"/>
              </a:defRPr>
            </a:pPr>
            <a:r>
              <a:t>256 FFT / 64 hop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Microsoft YaHei"/>
              </a:defRPr>
            </a:pPr>
            <a:r>
              <a:t>4 ms 帧移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3063240"/>
            <a:ext cx="31546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3063240"/>
            <a:ext cx="91440" cy="141732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48472" y="3227832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>
                <a:solidFill>
                  <a:srgbClr val="0F172A"/>
                </a:solidFill>
                <a:latin typeface="Microsoft YaHei"/>
              </a:rPr>
              <a:t>当前主线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593592"/>
            <a:ext cx="274320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  <a:latin typeface="Microsoft YaHei"/>
              </a:defRPr>
            </a:pPr>
            <a:r>
              <a:t>137,984 参数</a:t>
            </a:r>
          </a:p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  <a:latin typeface="Microsoft YaHei"/>
              </a:defRPr>
            </a:pPr>
            <a:r>
              <a:t>Tiny DeepFilter + MWF teacher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5833872"/>
            <a:ext cx="102412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64748B"/>
                </a:solidFill>
                <a:latin typeface="Microsoft YaHei"/>
              </a:rPr>
              <a:t>推荐版本：teacher_deepfilter_conservative_on_wind_eval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8961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700" b="1">
                <a:solidFill>
                  <a:srgbClr val="0F172A"/>
                </a:solidFill>
                <a:latin typeface="Microsoft YaHei"/>
              </a:rPr>
              <a:t>1. 项目背景：为什么做双麦端侧降噪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38360" y="438912"/>
            <a:ext cx="1737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Microsoft YaHei"/>
              </a:rPr>
              <a:t>TinyHear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35508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Microsoft YaHei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87552"/>
            <a:ext cx="11064240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91440" cy="18288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581912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>
                <a:solidFill>
                  <a:srgbClr val="0F172A"/>
                </a:solidFill>
                <a:latin typeface="Microsoft YaHei"/>
              </a:rPr>
              <a:t>应用场景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947672"/>
            <a:ext cx="3108960" cy="12070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  <a:latin typeface="Microsoft YaHei"/>
              </a:defRPr>
            </a:pPr>
            <a:r>
              <a:t>助听器、耳戴设备、上行通话</a:t>
            </a:r>
          </a:p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  <a:latin typeface="Microsoft YaHei"/>
              </a:defRPr>
            </a:pPr>
            <a:r>
              <a:t>用户直接感知：语音是否清楚、底噪是否刺耳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41732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26280" y="1417320"/>
            <a:ext cx="91440" cy="182880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36592" y="1581912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>
                <a:solidFill>
                  <a:srgbClr val="0F172A"/>
                </a:solidFill>
                <a:latin typeface="Microsoft YaHei"/>
              </a:rPr>
              <a:t>核心噪声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1947672"/>
            <a:ext cx="3108960" cy="12070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  <a:latin typeface="Microsoft YaHei"/>
              </a:defRPr>
            </a:pPr>
            <a:r>
              <a:t>环境噪声</a:t>
            </a:r>
          </a:p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  <a:latin typeface="Microsoft YaHei"/>
              </a:defRPr>
            </a:pPr>
            <a:r>
              <a:t>风噪 / 气流呼呼声</a:t>
            </a:r>
          </a:p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  <a:latin typeface="Microsoft YaHei"/>
              </a:defRPr>
            </a:pPr>
            <a:r>
              <a:t>麦克风自噪声和摩擦噪声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1417320"/>
            <a:ext cx="31089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412480" y="1417320"/>
            <a:ext cx="91440" cy="182880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22792" y="1581912"/>
            <a:ext cx="26974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>
                <a:solidFill>
                  <a:srgbClr val="0F172A"/>
                </a:solidFill>
                <a:latin typeface="Microsoft YaHei"/>
              </a:rPr>
              <a:t>端侧约束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41080" y="1947672"/>
            <a:ext cx="2697479" cy="12070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  <a:latin typeface="Microsoft YaHei"/>
              </a:defRPr>
            </a:pPr>
            <a:r>
              <a:t>低延迟</a:t>
            </a:r>
          </a:p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  <a:latin typeface="Microsoft YaHei"/>
              </a:defRPr>
            </a:pPr>
            <a:r>
              <a:t>小模型</a:t>
            </a:r>
          </a:p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  <a:latin typeface="Microsoft YaHei"/>
              </a:defRPr>
            </a:pPr>
            <a:r>
              <a:t>低功耗</a:t>
            </a:r>
          </a:p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  <a:latin typeface="Microsoft YaHei"/>
              </a:defRPr>
            </a:pPr>
            <a:r>
              <a:t>可定点化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977639"/>
            <a:ext cx="1024128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0F172A"/>
                </a:solidFill>
                <a:latin typeface="Microsoft YaHei"/>
              </a:rPr>
              <a:t>阶段目标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572000"/>
            <a:ext cx="97840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334155"/>
                </a:solidFill>
                <a:latin typeface="Microsoft YaHei"/>
              </a:defRPr>
            </a:pPr>
            <a:r>
              <a:t>在 100K-150K 参数级别内，验证双麦空间信息 + 小模型是否能形成实时可展示的语音增强闭环。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8961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700" b="1">
                <a:solidFill>
                  <a:srgbClr val="0F172A"/>
                </a:solidFill>
                <a:latin typeface="Microsoft YaHei"/>
              </a:rPr>
              <a:t>2. 技术判断：近距双麦不能只看幅度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38360" y="438912"/>
            <a:ext cx="1737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Microsoft YaHei"/>
              </a:rPr>
              <a:t>TinyHear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35508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Microsoft YaHei"/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87552"/>
            <a:ext cx="11064240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51663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325880"/>
            <a:ext cx="91440" cy="18288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490472"/>
            <a:ext cx="4754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>
                <a:solidFill>
                  <a:srgbClr val="0F172A"/>
                </a:solidFill>
                <a:latin typeface="Microsoft YaHei"/>
              </a:rPr>
              <a:t>为什么不是单麦降噪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856231"/>
            <a:ext cx="4754880" cy="12070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  <a:latin typeface="Microsoft YaHei"/>
              </a:defRPr>
            </a:pPr>
            <a:r>
              <a:t>双麦有空间信息，可以利用目标语音和噪声方向/相干性的差异</a:t>
            </a:r>
          </a:p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  <a:latin typeface="Microsoft YaHei"/>
              </a:defRPr>
            </a:pPr>
            <a:r>
              <a:t>单麦模型容易把风噪残留成低频呼呼声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325880"/>
            <a:ext cx="51663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325880"/>
            <a:ext cx="91440" cy="182880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9672" y="1490472"/>
            <a:ext cx="4754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>
                <a:solidFill>
                  <a:srgbClr val="0F172A"/>
                </a:solidFill>
                <a:latin typeface="Microsoft YaHei"/>
              </a:rPr>
              <a:t>为什么重点用 IPD / coherence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1856231"/>
            <a:ext cx="4754880" cy="12070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  <a:latin typeface="Microsoft YaHei"/>
              </a:defRPr>
            </a:pPr>
            <a:r>
              <a:t>助听器/耳戴设备麦克风距离近，ILD 幅度差通常不明显</a:t>
            </a:r>
          </a:p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  <a:latin typeface="Microsoft YaHei"/>
              </a:defRPr>
            </a:pPr>
            <a:r>
              <a:t>相位差、相干性和局部空间统计更稳定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" y="3886200"/>
            <a:ext cx="102870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40" y="4160520"/>
            <a:ext cx="9784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0F172A"/>
                </a:solidFill>
                <a:latin typeface="Microsoft YaHei"/>
              </a:rPr>
              <a:t>当前路线：保留双麦空间前端，同时用轻量神经网络做细化增强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8961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700" b="1">
                <a:solidFill>
                  <a:srgbClr val="0F172A"/>
                </a:solidFill>
                <a:latin typeface="Microsoft YaHei"/>
              </a:rPr>
              <a:t>3. 当前系统整体流程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38360" y="438912"/>
            <a:ext cx="1737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Microsoft YaHei"/>
              </a:rPr>
              <a:t>TinyHear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35508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Microsoft YaHei"/>
              </a:rP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87552"/>
            <a:ext cx="11064240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1444752" cy="73152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1627632"/>
            <a:ext cx="129844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双麦输入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75103" y="1645920"/>
            <a:ext cx="2011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64748B"/>
                </a:solidFill>
                <a:latin typeface="Microsoft YaHei"/>
              </a:rPr>
              <a:t>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67128" y="1417320"/>
            <a:ext cx="1444752" cy="731520"/>
          </a:xfrm>
          <a:prstGeom prst="round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40280" y="1627632"/>
            <a:ext cx="129844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STFT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9312" y="1645920"/>
            <a:ext cx="2011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64748B"/>
                </a:solidFill>
                <a:latin typeface="Microsoft YaHei"/>
              </a:rPr>
              <a:t>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31336" y="1417320"/>
            <a:ext cx="1444752" cy="731520"/>
          </a:xfrm>
          <a:prstGeom prst="round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04488" y="1627632"/>
            <a:ext cx="129844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IPD/相干性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1645920"/>
            <a:ext cx="2011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64748B"/>
                </a:solidFill>
                <a:latin typeface="Microsoft YaHei"/>
              </a:rPr>
              <a:t>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95544" y="1417320"/>
            <a:ext cx="1444752" cy="731520"/>
          </a:xfrm>
          <a:prstGeom prst="round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68696" y="1627632"/>
            <a:ext cx="129844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MWF 前端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67728" y="1645920"/>
            <a:ext cx="2011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64748B"/>
                </a:solidFill>
                <a:latin typeface="Microsoft YaHei"/>
              </a:rPr>
              <a:t>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59752" y="1417320"/>
            <a:ext cx="1444752" cy="731520"/>
          </a:xfrm>
          <a:prstGeom prst="roundRect">
            <a:avLst/>
          </a:prstGeom>
          <a:solidFill>
            <a:srgbClr val="6D28D9"/>
          </a:solidFill>
          <a:ln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1627632"/>
            <a:ext cx="129844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Tiny DeepFilter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31936" y="1645920"/>
            <a:ext cx="2011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64748B"/>
                </a:solidFill>
                <a:latin typeface="Microsoft YaHei"/>
              </a:rPr>
              <a:t>&gt;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23960" y="1417320"/>
            <a:ext cx="1444752" cy="73152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97112" y="1627632"/>
            <a:ext cx="129844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iSTFT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96144" y="1645920"/>
            <a:ext cx="2011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64748B"/>
                </a:solidFill>
                <a:latin typeface="Microsoft YaHei"/>
              </a:rPr>
              <a:t>&gt;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488168" y="1417320"/>
            <a:ext cx="1444752" cy="731520"/>
          </a:xfrm>
          <a:prstGeom prst="round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61320" y="1627632"/>
            <a:ext cx="129844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网页试听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2834640"/>
            <a:ext cx="51663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2834640"/>
            <a:ext cx="91440" cy="201168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7552" y="2999232"/>
            <a:ext cx="4754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>
                <a:solidFill>
                  <a:srgbClr val="0F172A"/>
                </a:solidFill>
                <a:latin typeface="Microsoft YaHei"/>
              </a:rPr>
              <a:t>推理链路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3364992"/>
            <a:ext cx="4754880" cy="1389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  <a:latin typeface="Microsoft YaHei"/>
              </a:defRPr>
            </a:pPr>
            <a:r>
              <a:t>输入双通道 mixture wav</a:t>
            </a:r>
          </a:p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  <a:latin typeface="Microsoft YaHei"/>
              </a:defRPr>
            </a:pPr>
            <a:r>
              <a:t>计算双麦空间特征和参考通道</a:t>
            </a:r>
          </a:p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  <a:latin typeface="Microsoft YaHei"/>
              </a:defRPr>
            </a:pPr>
            <a:r>
              <a:t>小模型逐帧输出 gain 与 deep-filter 系数</a:t>
            </a:r>
          </a:p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  <a:latin typeface="Microsoft YaHei"/>
              </a:defRPr>
            </a:pPr>
            <a:r>
              <a:t>实时 overlap-add 得到增强语音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55080" y="2834640"/>
            <a:ext cx="50749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55080" y="2834640"/>
            <a:ext cx="91440" cy="201168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65392" y="2999232"/>
            <a:ext cx="4663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>
                <a:solidFill>
                  <a:srgbClr val="0F172A"/>
                </a:solidFill>
                <a:latin typeface="Microsoft YaHei"/>
              </a:rPr>
              <a:t>评估链路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3364992"/>
            <a:ext cx="4663440" cy="1389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  <a:latin typeface="Microsoft YaHei"/>
              </a:defRPr>
            </a:pPr>
            <a:r>
              <a:t>固定风噪 eval 和 DEMAND eval</a:t>
            </a:r>
          </a:p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  <a:latin typeface="Microsoft YaHei"/>
              </a:defRPr>
            </a:pPr>
            <a:r>
              <a:t>输出 SI-SDR、RMS、failure analysis</a:t>
            </a:r>
          </a:p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  <a:latin typeface="Microsoft YaHei"/>
              </a:defRPr>
            </a:pPr>
            <a:r>
              <a:t>网页直接听 Noisy / Realtime / Clean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8961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700" b="1">
                <a:solidFill>
                  <a:srgbClr val="0F172A"/>
                </a:solidFill>
                <a:latin typeface="Microsoft YaHei"/>
              </a:rPr>
              <a:t>4. 当前推荐模型结构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38360" y="438912"/>
            <a:ext cx="1737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Microsoft YaHei"/>
              </a:rPr>
              <a:t>TinyHear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35508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Microsoft YaHei"/>
              </a:rP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87552"/>
            <a:ext cx="11064240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325880"/>
          <a:ext cx="1083564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092440"/>
              </a:tblGrid>
              <a:tr h="4191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模块</a:t>
                      </a:r>
                    </a:p>
                  </a:txBody>
                  <a:tcPr marL="73152" marR="73152" marT="45720" marB="45720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设计</a:t>
                      </a:r>
                    </a:p>
                  </a:txBody>
                  <a:tcPr marL="73152" marR="73152" marT="45720" marB="45720">
                    <a:solidFill>
                      <a:srgbClr val="E2E8F0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4155"/>
                          </a:solidFill>
                          <a:latin typeface="Microsoft YaHei"/>
                        </a:defRPr>
                      </a:pPr>
                      <a:r>
                        <a:t>前端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4155"/>
                          </a:solidFill>
                          <a:latin typeface="Microsoft YaHei"/>
                        </a:defRPr>
                      </a:pPr>
                      <a:r>
                        <a:t>coherence-weighted MWF spatial frontend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4155"/>
                          </a:solidFill>
                          <a:latin typeface="Microsoft YaHei"/>
                        </a:defRPr>
                      </a:pPr>
                      <a:r>
                        <a:t>主干网络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4155"/>
                          </a:solidFill>
                          <a:latin typeface="Microsoft YaHei"/>
                        </a:defRPr>
                      </a:pPr>
                      <a:r>
                        <a:t>TinyDeepFilterTCN，channels=96，blocks=8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4155"/>
                          </a:solidFill>
                          <a:latin typeface="Microsoft YaHei"/>
                        </a:defRPr>
                      </a:pPr>
                      <a:r>
                        <a:t>输出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4155"/>
                          </a:solidFill>
                          <a:latin typeface="Microsoft YaHei"/>
                        </a:defRPr>
                      </a:pPr>
                      <a:r>
                        <a:t>band gain + low-frequency complex deep-filter coef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4155"/>
                          </a:solidFill>
                          <a:latin typeface="Microsoft YaHei"/>
                        </a:defRPr>
                      </a:pPr>
                      <a:r>
                        <a:t>时频配置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4155"/>
                          </a:solidFill>
                          <a:latin typeface="Microsoft YaHei"/>
                        </a:defRPr>
                      </a:pPr>
                      <a:r>
                        <a:t>16 kHz，256 FFT，64 samples hop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4155"/>
                          </a:solidFill>
                          <a:latin typeface="Microsoft YaHei"/>
                        </a:defRPr>
                      </a:pPr>
                      <a:r>
                        <a:t>模型规模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4155"/>
                          </a:solidFill>
                          <a:latin typeface="Microsoft YaHei"/>
                        </a:defRPr>
                      </a:pPr>
                      <a:r>
                        <a:t>137,984 参数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68680" y="4343400"/>
            <a:ext cx="48463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4343400"/>
            <a:ext cx="91440" cy="1188720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4507992"/>
            <a:ext cx="4434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>
                <a:solidFill>
                  <a:srgbClr val="0F172A"/>
                </a:solidFill>
                <a:latin typeface="Microsoft YaHei"/>
              </a:rPr>
              <a:t>band gain 的作用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873752"/>
            <a:ext cx="4434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Microsoft YaHei"/>
              </a:defRPr>
            </a:pPr>
            <a:r>
              <a:t>做整体谱幅度抑制，稳定、轻量，便于端侧实现。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4343400"/>
            <a:ext cx="48463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4343400"/>
            <a:ext cx="91440" cy="1188720"/>
          </a:xfrm>
          <a:prstGeom prst="rect">
            <a:avLst/>
          </a:prstGeom>
          <a:solidFill>
            <a:srgbClr val="6D28D9"/>
          </a:solidFill>
          <a:ln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11112" y="4507992"/>
            <a:ext cx="4434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>
                <a:solidFill>
                  <a:srgbClr val="0F172A"/>
                </a:solidFill>
                <a:latin typeface="Microsoft YaHei"/>
              </a:rPr>
              <a:t>DeepFilter 的作用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4873752"/>
            <a:ext cx="4434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Microsoft YaHei"/>
              </a:defRPr>
            </a:pPr>
            <a:r>
              <a:t>低频多帧复数滤波，针对相位和风噪残留问题。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8961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700" b="1">
                <a:solidFill>
                  <a:srgbClr val="0F172A"/>
                </a:solidFill>
                <a:latin typeface="Microsoft YaHei"/>
              </a:rPr>
              <a:t>5. 数据集建设：从通用噪声到风噪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38360" y="438912"/>
            <a:ext cx="1737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Microsoft YaHei"/>
              </a:rPr>
              <a:t>TinyHear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35508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Microsoft YaHei"/>
              </a:rPr>
              <a:t>06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87552"/>
            <a:ext cx="11064240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234440"/>
          <a:ext cx="109728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423160"/>
                <a:gridCol w="2743200"/>
                <a:gridCol w="3794760"/>
              </a:tblGrid>
              <a:tr h="576072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阶段</a:t>
                      </a:r>
                    </a:p>
                  </a:txBody>
                  <a:tcPr marL="73152" marR="73152" marT="45720" marB="45720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Clean speech</a:t>
                      </a:r>
                    </a:p>
                  </a:txBody>
                  <a:tcPr marL="73152" marR="73152" marT="45720" marB="45720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Noise</a:t>
                      </a:r>
                    </a:p>
                  </a:txBody>
                  <a:tcPr marL="73152" marR="73152" marT="45720" marB="45720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作用</a:t>
                      </a:r>
                    </a:p>
                  </a:txBody>
                  <a:tcPr marL="73152" marR="73152" marT="45720" marB="45720">
                    <a:solidFill>
                      <a:srgbClr val="E2E8F0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334155"/>
                          </a:solidFill>
                          <a:latin typeface="Microsoft YaHei"/>
                        </a:defRPr>
                      </a:pPr>
                      <a:r>
                        <a:t>Baseline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334155"/>
                          </a:solidFill>
                          <a:latin typeface="Microsoft YaHei"/>
                        </a:defRPr>
                      </a:pPr>
                      <a:r>
                        <a:t>合成语音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334155"/>
                          </a:solidFill>
                          <a:latin typeface="Microsoft YaHei"/>
                        </a:defRPr>
                      </a:pPr>
                      <a:r>
                        <a:t>合成噪声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334155"/>
                          </a:solidFill>
                          <a:latin typeface="Microsoft YaHei"/>
                        </a:defRPr>
                      </a:pPr>
                      <a:r>
                        <a:t>快速打通训练/推理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334155"/>
                          </a:solidFill>
                          <a:latin typeface="Microsoft YaHei"/>
                        </a:defRPr>
                      </a:pPr>
                      <a:r>
                        <a:t>小规模验证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334155"/>
                          </a:solidFill>
                          <a:latin typeface="Microsoft YaHei"/>
                        </a:defRPr>
                      </a:pPr>
                      <a:r>
                        <a:t>YESNO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334155"/>
                          </a:solidFill>
                          <a:latin typeface="Microsoft YaHei"/>
                        </a:defRPr>
                      </a:pPr>
                      <a:r>
                        <a:t>DEMAND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334155"/>
                          </a:solidFill>
                          <a:latin typeface="Microsoft YaHei"/>
                        </a:defRPr>
                      </a:pPr>
                      <a:r>
                        <a:t>sanity check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334155"/>
                          </a:solidFill>
                          <a:latin typeface="Microsoft YaHei"/>
                        </a:defRPr>
                      </a:pPr>
                      <a:r>
                        <a:t>主基线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334155"/>
                          </a:solidFill>
                          <a:latin typeface="Microsoft YaHei"/>
                        </a:defRPr>
                      </a:pPr>
                      <a:r>
                        <a:t>CMU ARCTIC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334155"/>
                          </a:solidFill>
                          <a:latin typeface="Microsoft YaHei"/>
                        </a:defRPr>
                      </a:pPr>
                      <a:r>
                        <a:t>DEMAND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334155"/>
                          </a:solidFill>
                          <a:latin typeface="Microsoft YaHei"/>
                        </a:defRPr>
                      </a:pPr>
                      <a:r>
                        <a:t>环境噪声基线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334155"/>
                          </a:solidFill>
                          <a:latin typeface="Microsoft YaHei"/>
                        </a:defRPr>
                      </a:pPr>
                      <a:r>
                        <a:t>当前主线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334155"/>
                          </a:solidFill>
                          <a:latin typeface="Microsoft YaHei"/>
                        </a:defRPr>
                      </a:pPr>
                      <a:r>
                        <a:t>CMU ARCTIC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334155"/>
                          </a:solidFill>
                          <a:latin typeface="Microsoft YaHei"/>
                        </a:defRPr>
                      </a:pPr>
                      <a:r>
                        <a:t>DEMAND + Zenodo Wind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334155"/>
                          </a:solidFill>
                          <a:latin typeface="Microsoft YaHei"/>
                        </a:defRPr>
                      </a:pPr>
                      <a:r>
                        <a:t>风噪重点优化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68680" y="4617720"/>
            <a:ext cx="49377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4617720"/>
            <a:ext cx="91440" cy="9144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4782312"/>
            <a:ext cx="4526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700" b="1">
                <a:solidFill>
                  <a:srgbClr val="0F172A"/>
                </a:solidFill>
                <a:latin typeface="Microsoft YaHei"/>
              </a:rPr>
              <a:t>训练目录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148072"/>
            <a:ext cx="4526280" cy="2926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  <a:latin typeface="Microsoft YaHei"/>
              </a:defRPr>
            </a:pPr>
            <a:r>
              <a:t>data/arctic_wind_demand_flat/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4617720"/>
            <a:ext cx="49377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4617720"/>
            <a:ext cx="91440" cy="91440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65392" y="4782312"/>
            <a:ext cx="4526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700" b="1">
                <a:solidFill>
                  <a:srgbClr val="0F172A"/>
                </a:solidFill>
                <a:latin typeface="Microsoft YaHei"/>
              </a:rPr>
              <a:t>固定评估集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5148072"/>
            <a:ext cx="4526280" cy="2926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  <a:latin typeface="Microsoft YaHei"/>
              </a:defRPr>
            </a:pPr>
            <a:r>
              <a:t>data/arctic_wind_eval/val；data/arctic_demand_eval/val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8961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700" b="1">
                <a:solidFill>
                  <a:srgbClr val="0F172A"/>
                </a:solidFill>
                <a:latin typeface="Microsoft YaHei"/>
              </a:rPr>
              <a:t>6. 版本迭代总览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38360" y="438912"/>
            <a:ext cx="1737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Microsoft YaHei"/>
              </a:rPr>
              <a:t>TinyHear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35508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Microsoft YaHei"/>
              </a:rPr>
              <a:t>07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87552"/>
            <a:ext cx="11064240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00200"/>
            <a:ext cx="10881360" cy="36576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12648" y="1490472"/>
            <a:ext cx="237744" cy="237744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1856232"/>
            <a:ext cx="1463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Microsoft YaHei"/>
              </a:rPr>
              <a:t>Baseline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-137159" y="2203704"/>
            <a:ext cx="1737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334155"/>
                </a:solidFill>
                <a:latin typeface="Microsoft YaHei"/>
              </a:rPr>
              <a:t>band-mask TCN
能降噪但底噪大</a:t>
            </a:r>
          </a:p>
        </p:txBody>
      </p:sp>
      <p:sp>
        <p:nvSpPr>
          <p:cNvPr id="11" name="Oval 10"/>
          <p:cNvSpPr/>
          <p:nvPr/>
        </p:nvSpPr>
        <p:spPr>
          <a:xfrm>
            <a:off x="2788920" y="1490472"/>
            <a:ext cx="237744" cy="237744"/>
          </a:xfrm>
          <a:prstGeom prst="ellipse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76272" y="1856232"/>
            <a:ext cx="1463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Microsoft YaHei"/>
              </a:rPr>
              <a:t>Spatial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39111" y="2203704"/>
            <a:ext cx="1737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334155"/>
                </a:solidFill>
                <a:latin typeface="Microsoft YaHei"/>
              </a:rPr>
              <a:t>IPD / coherence
利用双麦信息</a:t>
            </a:r>
          </a:p>
        </p:txBody>
      </p:sp>
      <p:sp>
        <p:nvSpPr>
          <p:cNvPr id="14" name="Oval 13"/>
          <p:cNvSpPr/>
          <p:nvPr/>
        </p:nvSpPr>
        <p:spPr>
          <a:xfrm>
            <a:off x="4965192" y="1490472"/>
            <a:ext cx="237744" cy="237744"/>
          </a:xfrm>
          <a:prstGeom prst="ellipse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52544" y="1856232"/>
            <a:ext cx="1463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Microsoft YaHei"/>
              </a:rPr>
              <a:t>DeepFilter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15383" y="2203704"/>
            <a:ext cx="1737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334155"/>
                </a:solidFill>
                <a:latin typeface="Microsoft YaHei"/>
              </a:rPr>
              <a:t>多帧复数滤波
缓解相位问题</a:t>
            </a:r>
          </a:p>
        </p:txBody>
      </p:sp>
      <p:sp>
        <p:nvSpPr>
          <p:cNvPr id="17" name="Oval 16"/>
          <p:cNvSpPr/>
          <p:nvPr/>
        </p:nvSpPr>
        <p:spPr>
          <a:xfrm>
            <a:off x="7141464" y="1490472"/>
            <a:ext cx="237744" cy="237744"/>
          </a:xfrm>
          <a:prstGeom prst="ellipse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28816" y="1856232"/>
            <a:ext cx="1463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Microsoft YaHei"/>
              </a:rPr>
              <a:t>Postfilter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1655" y="2203704"/>
            <a:ext cx="1737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334155"/>
                </a:solidFill>
                <a:latin typeface="Microsoft YaHei"/>
              </a:rPr>
              <a:t>dehiss / gate
只能局部改善</a:t>
            </a:r>
          </a:p>
        </p:txBody>
      </p:sp>
      <p:sp>
        <p:nvSpPr>
          <p:cNvPr id="20" name="Oval 19"/>
          <p:cNvSpPr/>
          <p:nvPr/>
        </p:nvSpPr>
        <p:spPr>
          <a:xfrm>
            <a:off x="9317736" y="1490472"/>
            <a:ext cx="237744" cy="237744"/>
          </a:xfrm>
          <a:prstGeom prst="ellipse">
            <a:avLst/>
          </a:prstGeom>
          <a:solidFill>
            <a:srgbClr val="6D28D9"/>
          </a:solidFill>
          <a:ln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05088" y="1856232"/>
            <a:ext cx="1463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Microsoft YaHei"/>
              </a:rPr>
              <a:t>Wind 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67928" y="2203704"/>
            <a:ext cx="1737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334155"/>
                </a:solidFill>
                <a:latin typeface="Microsoft YaHei"/>
              </a:rPr>
              <a:t>加入真实风噪
听感改善</a:t>
            </a:r>
          </a:p>
        </p:txBody>
      </p:sp>
      <p:sp>
        <p:nvSpPr>
          <p:cNvPr id="23" name="Oval 22"/>
          <p:cNvSpPr/>
          <p:nvPr/>
        </p:nvSpPr>
        <p:spPr>
          <a:xfrm>
            <a:off x="11494007" y="1490472"/>
            <a:ext cx="237744" cy="237744"/>
          </a:xfrm>
          <a:prstGeom prst="ellipse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881359" y="1856232"/>
            <a:ext cx="1463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Microsoft YaHei"/>
              </a:rPr>
              <a:t>MWF teacher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44200" y="2203704"/>
            <a:ext cx="1737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334155"/>
                </a:solidFill>
                <a:latin typeface="Microsoft YaHei"/>
              </a:rPr>
              <a:t>当前推荐主线
风噪更稳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3886200"/>
            <a:ext cx="105613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" y="3886200"/>
            <a:ext cx="91440" cy="13716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3272" y="4050791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Microsoft YaHei"/>
              </a:rPr>
              <a:t>迭代结论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4416552"/>
            <a:ext cx="1014984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  <a:latin typeface="Microsoft YaHei"/>
              </a:defRPr>
            </a:pPr>
            <a:r>
              <a:t>反复实验后，单靠后处理或换一个小模型不能根治呼呼声；更有效的方向是“更强双麦前端 + DeepFilter + MWF teacher 蒸馏”。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8961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700" b="1">
                <a:solidFill>
                  <a:srgbClr val="0F172A"/>
                </a:solidFill>
                <a:latin typeface="Microsoft YaHei"/>
              </a:rPr>
              <a:t>7. 为什么引入 MWF Teacher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38360" y="438912"/>
            <a:ext cx="1737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Microsoft YaHei"/>
              </a:rPr>
              <a:t>TinyHear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35508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Microsoft YaHei"/>
              </a:rPr>
              <a:t>08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87552"/>
            <a:ext cx="11064240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29260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554480"/>
            <a:ext cx="270662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64748B"/>
                </a:solidFill>
                <a:latin typeface="Microsoft YaHei"/>
              </a:rPr>
              <a:t>Oracle local MWF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847088"/>
            <a:ext cx="270662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100" b="1">
                <a:solidFill>
                  <a:srgbClr val="16A34A"/>
                </a:solidFill>
                <a:latin typeface="Microsoft YaHei"/>
              </a:rPr>
              <a:t>+8.82 dB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404872"/>
            <a:ext cx="270662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334155"/>
                </a:solidFill>
                <a:latin typeface="Microsoft YaHei"/>
              </a:rPr>
              <a:t>Wind eval 上限验证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1417320"/>
            <a:ext cx="35661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60520" y="1417320"/>
            <a:ext cx="91440" cy="14173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70832" y="1581912"/>
            <a:ext cx="31546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>
                <a:solidFill>
                  <a:srgbClr val="0F172A"/>
                </a:solidFill>
                <a:latin typeface="Microsoft YaHei"/>
              </a:rPr>
              <a:t>teacher 是什么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1947672"/>
            <a:ext cx="3154679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  <a:latin typeface="Microsoft YaHei"/>
              </a:defRPr>
            </a:pPr>
            <a:r>
              <a:t>训练阶段用 clean/noisy 构造的强滤波器</a:t>
            </a:r>
          </a:p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  <a:latin typeface="Microsoft YaHei"/>
              </a:defRPr>
            </a:pPr>
            <a:r>
              <a:t>用于告诉小模型更合理的滤波方向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417320"/>
            <a:ext cx="32918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417320"/>
            <a:ext cx="91440" cy="141732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48472" y="1581912"/>
            <a:ext cx="2880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>
                <a:solidFill>
                  <a:srgbClr val="0F172A"/>
                </a:solidFill>
                <a:latin typeface="Microsoft YaHei"/>
              </a:rPr>
              <a:t>为什么不能部署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1947672"/>
            <a:ext cx="28803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  <a:latin typeface="Microsoft YaHei"/>
              </a:defRPr>
            </a:pPr>
            <a:r>
              <a:t>真实推理没有 clean 信息</a:t>
            </a:r>
          </a:p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  <a:latin typeface="Microsoft YaHei"/>
              </a:defRPr>
            </a:pPr>
            <a:r>
              <a:t>最终部署仍是 137,984 参数小模型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70332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0F172A"/>
                </a:solidFill>
                <a:latin typeface="Microsoft YaHei"/>
              </a:rPr>
              <a:t>当前采用保守蒸馏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011680" y="4343400"/>
            <a:ext cx="813816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40280" y="4553712"/>
            <a:ext cx="7680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2563EB"/>
                </a:solidFill>
                <a:latin typeface="Microsoft YaHei"/>
              </a:rPr>
              <a:t>target = 0.25 * oracle_mwf_teacher + 0.75 * clean_mic0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8961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700" b="1">
                <a:solidFill>
                  <a:srgbClr val="0F172A"/>
                </a:solidFill>
                <a:latin typeface="Microsoft YaHei"/>
              </a:rPr>
              <a:t>8. 训练目标与 Loss 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38360" y="438912"/>
            <a:ext cx="1737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Microsoft YaHei"/>
              </a:rPr>
              <a:t>TinyHear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35508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Microsoft YaHei"/>
              </a:rPr>
              <a:t>09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87552"/>
            <a:ext cx="11064240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325880"/>
            <a:ext cx="91440" cy="18288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49047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>
                <a:solidFill>
                  <a:srgbClr val="0F172A"/>
                </a:solidFill>
                <a:latin typeface="Microsoft YaHei"/>
              </a:rPr>
              <a:t>重建质量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856231"/>
            <a:ext cx="3017520" cy="12070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  <a:latin typeface="Microsoft YaHei"/>
              </a:defRPr>
            </a:pPr>
            <a:r>
              <a:t>waveform L1</a:t>
            </a:r>
          </a:p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  <a:latin typeface="Microsoft YaHei"/>
              </a:defRPr>
            </a:pPr>
            <a:r>
              <a:t>SI-SDR loss</a:t>
            </a:r>
          </a:p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  <a:latin typeface="Microsoft YaHei"/>
              </a:defRPr>
            </a:pPr>
            <a:r>
              <a:t>multi-resolution / log STFT magnitude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32588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325880"/>
            <a:ext cx="91440" cy="182880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9432" y="149047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>
                <a:solidFill>
                  <a:srgbClr val="0F172A"/>
                </a:solidFill>
                <a:latin typeface="Microsoft YaHei"/>
              </a:rPr>
              <a:t>残留噪声控制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1856231"/>
            <a:ext cx="3017520" cy="12070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  <a:latin typeface="Microsoft YaHei"/>
              </a:defRPr>
            </a:pPr>
            <a:r>
              <a:t>residual noise loss</a:t>
            </a:r>
          </a:p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  <a:latin typeface="Microsoft YaHei"/>
              </a:defRPr>
            </a:pPr>
            <a:r>
              <a:t>silence floor loss</a:t>
            </a:r>
          </a:p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  <a:latin typeface="Microsoft YaHei"/>
              </a:defRPr>
            </a:pPr>
            <a:r>
              <a:t>低能量区域底噪约束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32588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325880"/>
            <a:ext cx="91440" cy="182880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2752" y="149047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>
                <a:solidFill>
                  <a:srgbClr val="0F172A"/>
                </a:solidFill>
                <a:latin typeface="Microsoft YaHei"/>
              </a:rPr>
              <a:t>稳定性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1856231"/>
            <a:ext cx="3017520" cy="12070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  <a:latin typeface="Microsoft YaHei"/>
              </a:defRPr>
            </a:pPr>
            <a:r>
              <a:t>coef energy regularization</a:t>
            </a:r>
          </a:p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  <a:latin typeface="Microsoft YaHei"/>
              </a:defRPr>
            </a:pPr>
            <a:r>
              <a:t>保守 teacher blend</a:t>
            </a:r>
          </a:p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  <a:latin typeface="Microsoft YaHei"/>
              </a:defRPr>
            </a:pPr>
            <a:r>
              <a:t>避免过度滤波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160520"/>
            <a:ext cx="10241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334155"/>
                </a:solidFill>
                <a:latin typeface="Microsoft YaHei"/>
              </a:defRPr>
            </a:pPr>
            <a:r>
              <a:t>设计原则：不能只优化 MSE 或单一 SI-SDR，因为听感中的风噪、气流声和人声变小往往不是一个指标能完整反映。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8961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700" b="1">
                <a:solidFill>
                  <a:srgbClr val="0F172A"/>
                </a:solidFill>
                <a:latin typeface="Microsoft YaHei"/>
              </a:rPr>
              <a:t>9. 当前客观结果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38360" y="438912"/>
            <a:ext cx="1737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Microsoft YaHei"/>
              </a:rPr>
              <a:t>TinyHear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35508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Microsoft YaHei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87552"/>
            <a:ext cx="11064240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325880"/>
            <a:ext cx="26060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463039"/>
            <a:ext cx="238658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64748B"/>
                </a:solidFill>
                <a:latin typeface="Microsoft YaHei"/>
              </a:rPr>
              <a:t>Wind noisy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755648"/>
            <a:ext cx="238658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100" b="1">
                <a:solidFill>
                  <a:srgbClr val="64748B"/>
                </a:solidFill>
                <a:latin typeface="Microsoft YaHei"/>
              </a:rPr>
              <a:t>5.39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313432"/>
            <a:ext cx="238658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334155"/>
                </a:solidFill>
                <a:latin typeface="Microsoft YaHei"/>
              </a:rPr>
              <a:t>SI-SDR dB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11880" y="1325880"/>
            <a:ext cx="26060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21608" y="1463039"/>
            <a:ext cx="238658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64748B"/>
                </a:solidFill>
                <a:latin typeface="Microsoft YaHei"/>
              </a:rPr>
              <a:t>Wind enhanced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21608" y="1755648"/>
            <a:ext cx="238658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100" b="1">
                <a:solidFill>
                  <a:srgbClr val="2563EB"/>
                </a:solidFill>
                <a:latin typeface="Microsoft YaHei"/>
              </a:rPr>
              <a:t>10.19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21608" y="2313432"/>
            <a:ext cx="238658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334155"/>
                </a:solidFill>
                <a:latin typeface="Microsoft YaHei"/>
              </a:rPr>
              <a:t>SI-SDR dB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46520" y="1325880"/>
            <a:ext cx="26060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56248" y="1463039"/>
            <a:ext cx="238658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64748B"/>
                </a:solidFill>
                <a:latin typeface="Microsoft YaHei"/>
              </a:rPr>
              <a:t>Wind gain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6248" y="1755648"/>
            <a:ext cx="238658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100" b="1">
                <a:solidFill>
                  <a:srgbClr val="16A34A"/>
                </a:solidFill>
                <a:latin typeface="Microsoft YaHei"/>
              </a:rPr>
              <a:t>+4.80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56248" y="2313432"/>
            <a:ext cx="238658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334155"/>
                </a:solidFill>
                <a:latin typeface="Microsoft YaHei"/>
              </a:rPr>
              <a:t>SI-SDR improvement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81160" y="1325880"/>
            <a:ext cx="2194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90888" y="1463039"/>
            <a:ext cx="197510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64748B"/>
                </a:solidFill>
                <a:latin typeface="Microsoft YaHei"/>
              </a:rPr>
              <a:t>RMS ratio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90888" y="1755648"/>
            <a:ext cx="197510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100" b="1">
                <a:solidFill>
                  <a:srgbClr val="D97706"/>
                </a:solidFill>
                <a:latin typeface="Microsoft YaHei"/>
              </a:rPr>
              <a:t>0.764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90888" y="2313432"/>
            <a:ext cx="197510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334155"/>
                </a:solidFill>
                <a:latin typeface="Microsoft YaHei"/>
              </a:rPr>
              <a:t>输出响度保持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1051560" y="3749039"/>
          <a:ext cx="1005840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2194560"/>
                <a:gridCol w="2377440"/>
                <a:gridCol w="2377440"/>
              </a:tblGrid>
              <a:tr h="411480">
                <a:tc>
                  <a:txBody>
                    <a:bodyPr/>
                    <a:lstStyle/>
                    <a:p>
                      <a:pPr>
                        <a:defRPr sz="1350" b="1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评估集</a:t>
                      </a:r>
                    </a:p>
                  </a:txBody>
                  <a:tcPr marL="73152" marR="73152" marT="45720" marB="45720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 b="1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Noisy</a:t>
                      </a:r>
                    </a:p>
                  </a:txBody>
                  <a:tcPr marL="73152" marR="73152" marT="45720" marB="45720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 b="1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Enhanced</a:t>
                      </a:r>
                    </a:p>
                  </a:txBody>
                  <a:tcPr marL="73152" marR="73152" marT="45720" marB="45720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 b="1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Improvement</a:t>
                      </a:r>
                    </a:p>
                  </a:txBody>
                  <a:tcPr marL="73152" marR="73152" marT="45720" marB="45720">
                    <a:solidFill>
                      <a:srgbClr val="E2E8F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50" b="0">
                          <a:solidFill>
                            <a:srgbClr val="334155"/>
                          </a:solidFill>
                          <a:latin typeface="Microsoft YaHei"/>
                        </a:defRPr>
                      </a:pPr>
                      <a:r>
                        <a:t>Zenodo wind eval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 b="0">
                          <a:solidFill>
                            <a:srgbClr val="334155"/>
                          </a:solidFill>
                          <a:latin typeface="Microsoft YaHei"/>
                        </a:defRPr>
                      </a:pPr>
                      <a:r>
                        <a:t>5.39 dB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 b="0">
                          <a:solidFill>
                            <a:srgbClr val="334155"/>
                          </a:solidFill>
                          <a:latin typeface="Microsoft YaHei"/>
                        </a:defRPr>
                      </a:pPr>
                      <a:r>
                        <a:t>10.19 dB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 b="0">
                          <a:solidFill>
                            <a:srgbClr val="334155"/>
                          </a:solidFill>
                          <a:latin typeface="Microsoft YaHei"/>
                        </a:defRPr>
                      </a:pPr>
                      <a:r>
                        <a:t>+4.80 dB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50" b="0">
                          <a:solidFill>
                            <a:srgbClr val="334155"/>
                          </a:solidFill>
                          <a:latin typeface="Microsoft YaHei"/>
                        </a:defRPr>
                      </a:pPr>
                      <a:r>
                        <a:t>Original DEMAND eval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 b="0">
                          <a:solidFill>
                            <a:srgbClr val="334155"/>
                          </a:solidFill>
                          <a:latin typeface="Microsoft YaHei"/>
                        </a:defRPr>
                      </a:pPr>
                      <a:r>
                        <a:t>4.33 dB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 b="0">
                          <a:solidFill>
                            <a:srgbClr val="334155"/>
                          </a:solidFill>
                          <a:latin typeface="Microsoft YaHei"/>
                        </a:defRPr>
                      </a:pPr>
                      <a:r>
                        <a:t>10.96 dB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 b="0">
                          <a:solidFill>
                            <a:srgbClr val="334155"/>
                          </a:solidFill>
                          <a:latin typeface="Microsoft YaHei"/>
                        </a:defRPr>
                      </a:pPr>
                      <a:r>
                        <a:t>+6.63 dB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8961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700" b="1">
                <a:solidFill>
                  <a:srgbClr val="0F172A"/>
                </a:solidFill>
                <a:latin typeface="Microsoft YaHei"/>
              </a:rPr>
              <a:t>10. 关键版本对比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38360" y="438912"/>
            <a:ext cx="1737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Microsoft YaHei"/>
              </a:rPr>
              <a:t>TinyHear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35508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Microsoft YaHei"/>
              </a:rP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87552"/>
            <a:ext cx="11064240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371600"/>
          <a:ext cx="1078992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60"/>
                <a:gridCol w="1920240"/>
                <a:gridCol w="1965960"/>
                <a:gridCol w="4023360"/>
              </a:tblGrid>
              <a:tr h="5257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版本</a:t>
                      </a:r>
                    </a:p>
                  </a:txBody>
                  <a:tcPr marL="73152" marR="73152" marT="45720" marB="45720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Wind eval</a:t>
                      </a:r>
                    </a:p>
                  </a:txBody>
                  <a:tcPr marL="73152" marR="73152" marT="45720" marB="45720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DEMAND eval</a:t>
                      </a:r>
                    </a:p>
                  </a:txBody>
                  <a:tcPr marL="73152" marR="73152" marT="45720" marB="45720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结论</a:t>
                      </a:r>
                    </a:p>
                  </a:txBody>
                  <a:tcPr marL="73152" marR="73152" marT="45720" marB="45720">
                    <a:solidFill>
                      <a:srgbClr val="E2E8F0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4155"/>
                          </a:solidFill>
                          <a:latin typeface="Microsoft YaHei"/>
                        </a:defRPr>
                      </a:pPr>
                      <a:r>
                        <a:t>wind fine-tune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4155"/>
                          </a:solidFill>
                          <a:latin typeface="Microsoft YaHei"/>
                        </a:defRPr>
                      </a:pPr>
                      <a:r>
                        <a:t>+4.35 dB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4155"/>
                          </a:solidFill>
                          <a:latin typeface="Microsoft YaHei"/>
                        </a:defRPr>
                      </a:pPr>
                      <a:r>
                        <a:t>+7.06 dB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4155"/>
                          </a:solidFill>
                          <a:latin typeface="Microsoft YaHei"/>
                        </a:defRPr>
                      </a:pPr>
                      <a:r>
                        <a:t>通用噪声更稳，风噪仍有残留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4155"/>
                          </a:solidFill>
                          <a:latin typeface="Microsoft YaHei"/>
                        </a:defRPr>
                      </a:pPr>
                      <a:r>
                        <a:t>aggressive teacher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4155"/>
                          </a:solidFill>
                          <a:latin typeface="Microsoft YaHei"/>
                        </a:defRPr>
                      </a:pPr>
                      <a:r>
                        <a:t>+3.74 dB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4155"/>
                          </a:solidFill>
                          <a:latin typeface="Microsoft YaHei"/>
                        </a:defRPr>
                      </a:pPr>
                      <a:r>
                        <a:t>+5.21 dB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4155"/>
                          </a:solidFill>
                          <a:latin typeface="Microsoft YaHei"/>
                        </a:defRPr>
                      </a:pPr>
                      <a:r>
                        <a:t>teacher 太强，小模型学不稳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4155"/>
                          </a:solidFill>
                          <a:latin typeface="Microsoft YaHei"/>
                        </a:defRPr>
                      </a:pPr>
                      <a:r>
                        <a:t>conservative teacher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4155"/>
                          </a:solidFill>
                          <a:latin typeface="Microsoft YaHei"/>
                        </a:defRPr>
                      </a:pPr>
                      <a:r>
                        <a:t>+4.80 dB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4155"/>
                          </a:solidFill>
                          <a:latin typeface="Microsoft YaHei"/>
                        </a:defRPr>
                      </a:pPr>
                      <a:r>
                        <a:t>+6.63 dB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4155"/>
                          </a:solidFill>
                          <a:latin typeface="Microsoft YaHei"/>
                        </a:defRPr>
                      </a:pPr>
                      <a:r>
                        <a:t>当前推荐，风噪更优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960120" y="4160520"/>
            <a:ext cx="102870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60120" y="4160520"/>
            <a:ext cx="91440" cy="109728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4325112"/>
            <a:ext cx="9875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Microsoft YaHei"/>
              </a:rPr>
              <a:t>选择当前版本的原因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690872"/>
            <a:ext cx="9875520" cy="4754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  <a:latin typeface="Microsoft YaHei"/>
              </a:defRPr>
            </a:pPr>
            <a:r>
              <a:t>它不是所有指标都最高，而是在风噪听感、人声保持和模型稳定性之间更均衡。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8961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700" b="1">
                <a:solidFill>
                  <a:srgbClr val="0F172A"/>
                </a:solidFill>
                <a:latin typeface="Microsoft YaHei"/>
              </a:rPr>
              <a:t>11. 失败样本分析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38360" y="438912"/>
            <a:ext cx="1737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Microsoft YaHei"/>
              </a:rPr>
              <a:t>TinyHear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35508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Microsoft YaHei"/>
              </a:rP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87552"/>
            <a:ext cx="11064240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68680" y="1371600"/>
          <a:ext cx="438912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1737360"/>
              </a:tblGrid>
              <a:tr h="566928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Failure mode</a:t>
                      </a:r>
                    </a:p>
                  </a:txBody>
                  <a:tcPr marL="73152" marR="73152" marT="45720" marB="45720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Wind eval 数量</a:t>
                      </a:r>
                    </a:p>
                  </a:txBody>
                  <a:tcPr marL="73152" marR="73152" marT="45720" marB="45720">
                    <a:solidFill>
                      <a:srgbClr val="E2E8F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4155"/>
                          </a:solidFill>
                          <a:latin typeface="Microsoft YaHei"/>
                        </a:defRPr>
                      </a:pPr>
                      <a:r>
                        <a:t>ok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4155"/>
                          </a:solidFill>
                          <a:latin typeface="Microsoft YaHei"/>
                        </a:defRPr>
                      </a:pPr>
                      <a:r>
                        <a:t>117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4155"/>
                          </a:solidFill>
                          <a:latin typeface="Microsoft YaHei"/>
                        </a:defRPr>
                      </a:pPr>
                      <a:r>
                        <a:t>low_freq_wind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4155"/>
                          </a:solidFill>
                          <a:latin typeface="Microsoft YaHei"/>
                        </a:defRPr>
                      </a:pPr>
                      <a:r>
                        <a:t>35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4155"/>
                          </a:solidFill>
                          <a:latin typeface="Microsoft YaHei"/>
                        </a:defRPr>
                      </a:pPr>
                      <a:r>
                        <a:t>regression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4155"/>
                          </a:solidFill>
                          <a:latin typeface="Microsoft YaHei"/>
                        </a:defRPr>
                      </a:pPr>
                      <a:r>
                        <a:t>7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4155"/>
                          </a:solidFill>
                          <a:latin typeface="Microsoft YaHei"/>
                        </a:defRPr>
                      </a:pPr>
                      <a:r>
                        <a:t>residual_noise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4155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897880" y="1417320"/>
            <a:ext cx="51663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97880" y="1417320"/>
            <a:ext cx="91440" cy="132588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08192" y="1581912"/>
            <a:ext cx="4754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Microsoft YaHei"/>
              </a:rPr>
              <a:t>诊断结论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1947672"/>
            <a:ext cx="4754880" cy="7040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  <a:latin typeface="Microsoft YaHei"/>
              </a:defRPr>
            </a:pPr>
            <a:r>
              <a:t>当前主要问题不是完全没有降噪能力，而是低频风噪/气流残留。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97880" y="3154680"/>
            <a:ext cx="51663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97880" y="3154680"/>
            <a:ext cx="91440" cy="132588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08192" y="3319272"/>
            <a:ext cx="4754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Microsoft YaHei"/>
              </a:rPr>
              <a:t>后续方向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3685032"/>
            <a:ext cx="4754880" cy="7040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  <a:latin typeface="Microsoft YaHei"/>
              </a:defRPr>
            </a:pPr>
            <a:r>
              <a:t>围绕 low_freq_wind 失败样本做定向 loss 和真实数据补充。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8961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700" b="1">
                <a:solidFill>
                  <a:srgbClr val="0F172A"/>
                </a:solidFill>
                <a:latin typeface="Microsoft YaHei"/>
              </a:rPr>
              <a:t>12. 网页 Demo 展示方式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38360" y="438912"/>
            <a:ext cx="1737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Microsoft YaHei"/>
              </a:rPr>
              <a:t>TinyHear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35508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Microsoft YaHei"/>
              </a:rPr>
              <a:t>13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87552"/>
            <a:ext cx="11064240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280160"/>
            <a:ext cx="107442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280160"/>
            <a:ext cx="91440" cy="86868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444751"/>
            <a:ext cx="10332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900" b="1">
                <a:solidFill>
                  <a:srgbClr val="0F172A"/>
                </a:solidFill>
                <a:latin typeface="Microsoft YaHei"/>
              </a:rPr>
              <a:t>网页入口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810512"/>
            <a:ext cx="10332720" cy="246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  <a:latin typeface="Microsoft YaHei"/>
              </a:defRPr>
            </a:pPr>
            <a:r>
              <a:t>http://127.0.0.1:38180/runs/audio_demo/index.html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2514600"/>
            <a:ext cx="32461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2514600"/>
            <a:ext cx="91440" cy="205740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2679192"/>
            <a:ext cx="28346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900" b="1">
                <a:solidFill>
                  <a:srgbClr val="0F172A"/>
                </a:solidFill>
                <a:latin typeface="Microsoft YaHei"/>
              </a:rPr>
              <a:t>第一步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044952"/>
            <a:ext cx="2834639" cy="14356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Microsoft YaHei"/>
              </a:defRPr>
            </a:pPr>
            <a:r>
              <a:t>播放 Noisy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Microsoft YaHei"/>
              </a:defRPr>
            </a:pPr>
            <a:r>
              <a:t>让听众先听到原始风噪和底噪问题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60" y="2514600"/>
            <a:ext cx="32461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80560" y="2514600"/>
            <a:ext cx="91440" cy="205740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90872" y="2679192"/>
            <a:ext cx="28346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900" b="1">
                <a:solidFill>
                  <a:srgbClr val="0F172A"/>
                </a:solidFill>
                <a:latin typeface="Microsoft YaHei"/>
              </a:rPr>
              <a:t>第二步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60" y="3044952"/>
            <a:ext cx="2834639" cy="14356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Microsoft YaHei"/>
              </a:defRPr>
            </a:pPr>
            <a:r>
              <a:t>播放 Realtime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Microsoft YaHei"/>
              </a:defRPr>
            </a:pPr>
            <a:r>
              <a:t>选择 teacher_deepfilter_conservative_on_wind_eval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2440" y="2514600"/>
            <a:ext cx="32461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92440" y="2514600"/>
            <a:ext cx="91440" cy="20574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02752" y="2679192"/>
            <a:ext cx="28346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900" b="1">
                <a:solidFill>
                  <a:srgbClr val="0F172A"/>
                </a:solidFill>
                <a:latin typeface="Microsoft YaHei"/>
              </a:rPr>
              <a:t>第三步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3044952"/>
            <a:ext cx="2834639" cy="14356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Microsoft YaHei"/>
              </a:defRPr>
            </a:pPr>
            <a:r>
              <a:t>播放 Clean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Microsoft YaHei"/>
              </a:defRPr>
            </a:pPr>
            <a:r>
              <a:t>说明当前差距主要在低频呼呼声残留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8961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700" b="1">
                <a:solidFill>
                  <a:srgbClr val="0F172A"/>
                </a:solidFill>
                <a:latin typeface="Microsoft YaHei"/>
              </a:rPr>
              <a:t>13. 已完成工程闭环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38360" y="438912"/>
            <a:ext cx="1737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Microsoft YaHei"/>
              </a:rPr>
              <a:t>TinyHear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35508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Microsoft YaHei"/>
              </a:rPr>
              <a:t>14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87552"/>
            <a:ext cx="11064240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325880"/>
            <a:ext cx="91440" cy="18288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49047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>
                <a:solidFill>
                  <a:srgbClr val="0F172A"/>
                </a:solidFill>
                <a:latin typeface="Microsoft YaHei"/>
              </a:rPr>
              <a:t>训练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856231"/>
            <a:ext cx="3017520" cy="12070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  <a:latin typeface="Microsoft YaHei"/>
              </a:defRPr>
            </a:pPr>
            <a:r>
              <a:t>数据准备</a:t>
            </a:r>
          </a:p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  <a:latin typeface="Microsoft YaHei"/>
              </a:defRPr>
            </a:pPr>
            <a:r>
              <a:t>动态双麦混音</a:t>
            </a:r>
          </a:p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  <a:latin typeface="Microsoft YaHei"/>
              </a:defRPr>
            </a:pPr>
            <a:r>
              <a:t>多版本模型训练</a:t>
            </a:r>
          </a:p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  <a:latin typeface="Microsoft YaHei"/>
              </a:defRPr>
            </a:pPr>
            <a:r>
              <a:t>teacher 蒸馏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32588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325880"/>
            <a:ext cx="91440" cy="182880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9432" y="149047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>
                <a:solidFill>
                  <a:srgbClr val="0F172A"/>
                </a:solidFill>
                <a:latin typeface="Microsoft YaHei"/>
              </a:rPr>
              <a:t>评估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1856231"/>
            <a:ext cx="3017520" cy="12070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  <a:latin typeface="Microsoft YaHei"/>
              </a:defRPr>
            </a:pPr>
            <a:r>
              <a:t>SI-SDR metrics</a:t>
            </a:r>
          </a:p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  <a:latin typeface="Microsoft YaHei"/>
              </a:defRPr>
            </a:pPr>
            <a:r>
              <a:t>实时增强脚本</a:t>
            </a:r>
          </a:p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  <a:latin typeface="Microsoft YaHei"/>
              </a:defRPr>
            </a:pPr>
            <a:r>
              <a:t>failure analysis</a:t>
            </a:r>
          </a:p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  <a:latin typeface="Microsoft YaHei"/>
              </a:defRPr>
            </a:pPr>
            <a:r>
              <a:t>固定样本对比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32588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325880"/>
            <a:ext cx="91440" cy="182880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2752" y="149047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>
                <a:solidFill>
                  <a:srgbClr val="0F172A"/>
                </a:solidFill>
                <a:latin typeface="Microsoft YaHei"/>
              </a:rPr>
              <a:t>展示/部署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1856231"/>
            <a:ext cx="3017520" cy="12070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  <a:latin typeface="Microsoft YaHei"/>
              </a:defRPr>
            </a:pPr>
            <a:r>
              <a:t>网页试听 demo</a:t>
            </a:r>
          </a:p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  <a:latin typeface="Microsoft YaHei"/>
              </a:defRPr>
            </a:pPr>
            <a:r>
              <a:t>GitHub 文档</a:t>
            </a:r>
          </a:p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  <a:latin typeface="Microsoft YaHei"/>
              </a:defRPr>
            </a:pPr>
            <a:r>
              <a:t>早期 INT8 导出</a:t>
            </a:r>
          </a:p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  <a:latin typeface="Microsoft YaHei"/>
              </a:defRPr>
            </a:pPr>
            <a:r>
              <a:t>C reference 链路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160520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334155"/>
                </a:solidFill>
                <a:latin typeface="Microsoft YaHei"/>
              </a:defRPr>
            </a:pPr>
            <a:r>
              <a:t>目前项目已经不是单个模型实验，而是包含数据、训练、评估、试听和工程化验证的完整原型系统。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8961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700" b="1">
                <a:solidFill>
                  <a:srgbClr val="0F172A"/>
                </a:solidFill>
                <a:latin typeface="Microsoft YaHei"/>
              </a:rPr>
              <a:t>14. 当前不足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38360" y="438912"/>
            <a:ext cx="1737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Microsoft YaHei"/>
              </a:rPr>
              <a:t>TinyHear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35508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Microsoft YaHei"/>
              </a:rPr>
              <a:t>15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87552"/>
            <a:ext cx="11064240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1663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280160"/>
            <a:ext cx="91440" cy="123444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444751"/>
            <a:ext cx="4754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Microsoft YaHei"/>
              </a:rPr>
              <a:t>听感差距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810512"/>
            <a:ext cx="4754880" cy="612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  <a:latin typeface="Microsoft YaHei"/>
              </a:defRPr>
            </a:pPr>
            <a:r>
              <a:t>相比 clean，部分样本仍有低频风噪和气流呼呼声。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280160"/>
            <a:ext cx="51663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280160"/>
            <a:ext cx="91440" cy="123444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1444751"/>
            <a:ext cx="4754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Microsoft YaHei"/>
              </a:rPr>
              <a:t>数据差距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810512"/>
            <a:ext cx="4754880" cy="612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  <a:latin typeface="Microsoft YaHei"/>
              </a:defRPr>
            </a:pPr>
            <a:r>
              <a:t>公开数据集合成与真实助听器佩戴、真实风噪仍有 domain gap。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017520"/>
            <a:ext cx="51663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017520"/>
            <a:ext cx="91440" cy="123444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3182112"/>
            <a:ext cx="4754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Microsoft YaHei"/>
              </a:rPr>
              <a:t>指标差距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547872"/>
            <a:ext cx="4754880" cy="612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  <a:latin typeface="Microsoft YaHei"/>
              </a:defRPr>
            </a:pPr>
            <a:r>
              <a:t>SI-SDR 与主观听感不完全一致，需要固定听感评估集。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017520"/>
            <a:ext cx="51663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3017520"/>
            <a:ext cx="91440" cy="123444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3952" y="3182112"/>
            <a:ext cx="4754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Microsoft YaHei"/>
              </a:rPr>
              <a:t>部署差距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547872"/>
            <a:ext cx="4754880" cy="612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  <a:latin typeface="Microsoft YaHei"/>
              </a:defRPr>
            </a:pPr>
            <a:r>
              <a:t>当前推荐 DeepFilter 版本还需要完成 INT8/C reference 对齐。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8961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700" b="1">
                <a:solidFill>
                  <a:srgbClr val="0F172A"/>
                </a:solidFill>
                <a:latin typeface="Microsoft YaHei"/>
              </a:rPr>
              <a:t>15. 下一步计划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38360" y="438912"/>
            <a:ext cx="1737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Microsoft YaHei"/>
              </a:rPr>
              <a:t>TinyHear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35508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Microsoft YaHei"/>
              </a:rPr>
              <a:t>16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87552"/>
            <a:ext cx="11064240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325880"/>
            <a:ext cx="1069848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  <a:latin typeface="Microsoft YaHei"/>
              </a:defRPr>
            </a:pPr>
            <a:r>
              <a:t>1. 低频风噪定向优化：固定 low_freq_wind 失败样本，增加低频 residual wind loss。</a:t>
            </a:r>
          </a:p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  <a:latin typeface="Microsoft YaHei"/>
              </a:defRPr>
            </a:pPr>
            <a:r>
              <a:t>2. 语音保持约束：speech-active RMS / speech-band loss，避免继续压噪时人声变小。</a:t>
            </a:r>
          </a:p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  <a:latin typeface="Microsoft YaHei"/>
              </a:defRPr>
            </a:pPr>
            <a:r>
              <a:t>3. 补充真实双麦数据：佩戴位置、走动风噪、摩擦噪声、麦克风自噪声和房间混响。</a:t>
            </a:r>
          </a:p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  <a:latin typeface="Microsoft YaHei"/>
              </a:defRPr>
            </a:pPr>
            <a:r>
              <a:t>4. 端侧部署闭环：TinyDeepFilterTCN 的 INT8 导出、fixed-scale Python reference、C reference 对齐和 benchmark。</a:t>
            </a:r>
          </a:p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  <a:latin typeface="Microsoft YaHei"/>
              </a:defRPr>
            </a:pPr>
            <a:r>
              <a:t>5. 展示完善：固定 demo 样本和版本对比，主观听感 + 客观指标同时汇报。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0F172A"/>
                </a:solidFill>
                <a:latin typeface="Microsoft YaHei"/>
              </a:rPr>
              <a:t>阶段性结论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783080"/>
            <a:ext cx="104698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2148840"/>
            <a:ext cx="9738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16A34A"/>
                </a:solidFill>
                <a:latin typeface="Microsoft YaHei"/>
              </a:rPr>
              <a:t>项目已经验证：强双麦前端 / MWF teacher 是有效方向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4069080"/>
            <a:ext cx="99669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334155"/>
                </a:solidFill>
                <a:latin typeface="Microsoft YaHei"/>
              </a:defRPr>
            </a:pPr>
            <a:r>
              <a:t>当前推荐版本在风噪 eval 上达到 +4.80 dB SI-SDR improvement，在 DEMAND eval 上达到 +6.63 dB。</a:t>
            </a:r>
          </a:p>
          <a:p>
            <a:pPr>
              <a:spcAft>
                <a:spcPts val="800"/>
              </a:spcAft>
              <a:defRPr sz="2100">
                <a:solidFill>
                  <a:srgbClr val="334155"/>
                </a:solidFill>
                <a:latin typeface="Microsoft YaHei"/>
              </a:defRPr>
            </a:pPr>
            <a:r>
              <a:t>下一阶段重点不是盲目换模型，而是围绕低频风噪残留、真实双麦数据和端侧部署闭环继续收敛。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Microsoft YaHei"/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